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54864"/>
            <a:ext cx="100584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VLM-Guided Constrained Expert Merge for DiT Restoration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60152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面向 All-in-One Image Restoration 的</a:t>
            </a:r>
          </a:p>
          <a:p>
            <a:pPr algn="ctr">
              <a:lnSpc>
                <a:spcPct val="110000"/>
              </a:lnSpc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显式 VLM 引导的 DiT-MoE 专家合并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3584448"/>
            <a:ext cx="2221992" cy="25603"/>
          </a:xfrm>
          <a:prstGeom prst="rect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9628632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VLM-Guided Constrained Expert Merge</a:t>
            </a:r>
          </a:p>
          <a:p>
            <a:pPr algn="ctr">
              <a:lnSpc>
                <a:spcPct val="128000"/>
              </a:lnSpc>
            </a:pPr>
            <a:r>
              <a:rPr sz="14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让 VLM 先开“诊断单”，再让 MoE 在诊断范围内做受约束、可解释、会随阶段调整的专家合并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937760"/>
            <a:ext cx="6702552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7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创新点研究方案汇报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932688"/>
            <a:ext cx="11183112" cy="896112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lnSpc>
                <a:spcPct val="118000"/>
              </a:lnSpc>
            </a:pPr>
            <a:r>
              <a:rPr sz="1300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现在</a:t>
            </a:r>
            <a:r>
              <a:rPr sz="1300" dirty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 VLM </a:t>
            </a:r>
            <a:r>
              <a:rPr sz="1300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已经能看出一张图有哪几种退化、各自有多严重。能不能把这个判断直接交给</a:t>
            </a:r>
            <a:r>
              <a:rPr sz="1300" dirty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MoE，用来决定怎么组合专家</a:t>
            </a:r>
            <a:r>
              <a:rPr sz="1300" dirty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algn="l">
              <a:lnSpc>
                <a:spcPct val="118000"/>
              </a:lnSpc>
            </a:pPr>
            <a:r>
              <a:rPr sz="1300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而不是让路由器（router）自己从图像里去猜</a:t>
            </a:r>
            <a:r>
              <a:rPr sz="1300" dirty="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01952"/>
            <a:ext cx="11183112" cy="1225296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一句话回答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让 VLM 先开一张“诊断单”：每种退化有没有、多严重；再把它变成专家的初始权重。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MoE 只能在这个初始权重附近做小幅调整，不能完全无视 VLM；权重还会随网络层、随恢复阶段变化。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2112"/>
            <a:ext cx="1118311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为什么不能只让路由器自己看图像？</a:t>
            </a:r>
            <a:r>
              <a:rPr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现有做法有三个毛病（①②③），正好对应后面“创新点”页的三个改进。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3611880" cy="1865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① 看不懂、不可解释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让路由器自己从图像里猜用了哪个专家，我们不知道它为什么这么选，也无法检查它有没有漏掉复合退化。</a:t>
            </a:r>
          </a:p>
          <a:p>
            <a:pPr algn="l"/>
            <a:r>
              <a:rPr sz="1050" b="1">
                <a:solidFill>
                  <a:srgbClr val="1F7A6D"/>
                </a:solidFill>
                <a:latin typeface="微软雅黑"/>
                <a:ea typeface="微软雅黑"/>
                <a:cs typeface="微软雅黑"/>
              </a:rPr>
              <a:t>→ 对应改进：诊断驱动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3566160"/>
            <a:ext cx="3611880" cy="1865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② 不受约束、可能乱换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没有诊断约束，它可能把 VLM 已经看到的退化忽略掉，甚至偷偷换成无关的专家。</a:t>
            </a:r>
          </a:p>
          <a:p>
            <a:pPr algn="l"/>
            <a:r>
              <a:rPr sz="1050" b="1">
                <a:solidFill>
                  <a:srgbClr val="1F7A6D"/>
                </a:solidFill>
                <a:latin typeface="微软雅黑"/>
                <a:ea typeface="微软雅黑"/>
                <a:cs typeface="微软雅黑"/>
              </a:rPr>
              <a:t>→ 对应改进：受约束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3566160"/>
            <a:ext cx="3611880" cy="1865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③ 不会随阶段调整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一张固定权重表很难表达“先去噪、再补细节”的先后顺序，需要随网络层和恢复时间步变化。</a:t>
            </a:r>
          </a:p>
          <a:p>
            <a:pPr algn="l"/>
            <a:r>
              <a:rPr sz="1050" b="1">
                <a:solidFill>
                  <a:srgbClr val="1F7A6D"/>
                </a:solidFill>
                <a:latin typeface="微软雅黑"/>
                <a:ea typeface="微软雅黑"/>
                <a:cs typeface="微软雅黑"/>
              </a:rPr>
              <a:t>→ 对应改进：随阶段变化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541264"/>
            <a:ext cx="11183112" cy="768096"/>
          </a:xfrm>
          <a:prstGeom prst="roundRect">
            <a:avLst/>
          </a:prstGeom>
          <a:solidFill>
            <a:srgbClr val="FDF6E3"/>
          </a:solidFill>
          <a:ln w="12700">
            <a:solidFill>
              <a:srgbClr val="9A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A6D00"/>
                </a:solidFill>
                <a:latin typeface="微软雅黑"/>
                <a:ea typeface="微软雅黑"/>
                <a:cs typeface="微软雅黑"/>
              </a:rPr>
              <a:t>现在的情况：</a:t>
            </a: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Qwen2.5-VL 已能输出 5 种退化各自的等级（1=没有，2–5 越来越重）；但这些等级目前只被拼成一句话交给 FLUX，</a:t>
            </a:r>
          </a:p>
          <a:p>
            <a:pPr algn="l">
              <a:lnSpc>
                <a:spcPct val="112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并没有用来选择内部专家。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整体流程：VLM 先开“诊断单”，MoE 只能在诊断范围内微调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0" name="Picture 9" descr="fig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24128"/>
            <a:ext cx="6656832" cy="3745382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1" name="Oval 10"/>
          <p:cNvSpPr/>
          <p:nvPr/>
        </p:nvSpPr>
        <p:spPr>
          <a:xfrm>
            <a:off x="7242048" y="1024128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005840"/>
            <a:ext cx="39593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>
              <a:lnSpc>
                <a:spcPct val="108000"/>
              </a:lnSpc>
            </a:pPr>
            <a:r>
              <a:rPr sz="108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VLM 逐类诊断：对模糊/噪声/雨/雾/低照，分别看有没有(p_i)、多严重(s_i)。</a:t>
            </a:r>
          </a:p>
        </p:txBody>
      </p:sp>
      <p:sp>
        <p:nvSpPr>
          <p:cNvPr id="13" name="Oval 12"/>
          <p:cNvSpPr/>
          <p:nvPr/>
        </p:nvSpPr>
        <p:spPr>
          <a:xfrm>
            <a:off x="7242048" y="1874520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856232"/>
            <a:ext cx="39593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>
              <a:lnSpc>
                <a:spcPct val="108000"/>
              </a:lnSpc>
            </a:pPr>
            <a:r>
              <a:rPr sz="108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算初始权重：又有又重的专家份额大、没看到的为 0；公式 π_i = Normalize(p_i×s_i)。</a:t>
            </a:r>
          </a:p>
        </p:txBody>
      </p:sp>
      <p:sp>
        <p:nvSpPr>
          <p:cNvPr id="15" name="Oval 14"/>
          <p:cNvSpPr/>
          <p:nvPr/>
        </p:nvSpPr>
        <p:spPr>
          <a:xfrm>
            <a:off x="7242048" y="2724912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706624"/>
            <a:ext cx="39593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>
              <a:lnSpc>
                <a:spcPct val="108000"/>
              </a:lnSpc>
            </a:pPr>
            <a:r>
              <a:rPr sz="108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只许微调：tanh 把改动压在 −1~1、c 封顶，只能小修、不能换专家（c·tanh(δ_i)）。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7242048" y="3575304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557016"/>
            <a:ext cx="39593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>
              <a:lnSpc>
                <a:spcPct val="108000"/>
              </a:lnSpc>
            </a:pPr>
            <a:r>
              <a:rPr sz="108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随层、随阶段：权重 w_i^(l,t) 按 DiT 第几层 l、恢复到第几步 t 变化。</a:t>
            </a:r>
          </a:p>
        </p:txBody>
      </p:sp>
      <p:sp>
        <p:nvSpPr>
          <p:cNvPr id="19" name="Oval 18"/>
          <p:cNvSpPr/>
          <p:nvPr/>
        </p:nvSpPr>
        <p:spPr>
          <a:xfrm>
            <a:off x="7242048" y="4425696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407408"/>
            <a:ext cx="39593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>
              <a:lnSpc>
                <a:spcPct val="108000"/>
              </a:lnSpc>
            </a:pPr>
            <a:r>
              <a:rPr sz="108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复合退化同时开多个专家：又有噪又偏暗就开 Noise + Low-light，没诊断到的为 0。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138928"/>
            <a:ext cx="11274552" cy="1170432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>
              <a:lnSpc>
                <a:spcPct val="122000"/>
              </a:lnSpc>
            </a:pPr>
            <a:r>
              <a:rPr sz="1550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一句话：VLM</a:t>
            </a:r>
            <a:r>
              <a:rPr sz="15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先判断图像有什么问题、多严重；MoE</a:t>
            </a:r>
            <a:r>
              <a:rPr sz="15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可以修正这个判断，但不能完全无视它</a:t>
            </a:r>
            <a:r>
              <a:rPr sz="15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合并方式：一个共享 DiT 主干 + 五个专用 LoRA 专家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Picture 9" descr="fig_mo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987552"/>
            <a:ext cx="6601968" cy="3714513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7223760" y="1005840"/>
            <a:ext cx="4462272" cy="713232"/>
          </a:xfrm>
          <a:prstGeom prst="roundRect">
            <a:avLst/>
          </a:prstGeom>
          <a:solidFill>
            <a:srgbClr val="233B6D"/>
          </a:solidFill>
          <a:ln w="12700">
            <a:solidFill>
              <a:srgbClr val="233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π</a:t>
            </a:r>
            <a:r>
              <a:rPr sz="190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9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= Normalize( p</a:t>
            </a:r>
            <a:r>
              <a:rPr sz="190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9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× s</a:t>
            </a:r>
            <a:r>
              <a:rPr sz="190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9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828800"/>
            <a:ext cx="4462272" cy="841248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155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550" b="1" baseline="30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(l,t)</a:t>
            </a:r>
            <a:r>
              <a:rPr sz="15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= Softmax( log(π</a:t>
            </a:r>
            <a:r>
              <a:rPr sz="155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5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+ε) + c·tanh(δ</a:t>
            </a:r>
            <a:r>
              <a:rPr sz="155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550" b="1" baseline="30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(l,t)</a:t>
            </a:r>
            <a:r>
              <a:rPr sz="15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88336"/>
            <a:ext cx="4462272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>
                <a:solidFill>
                  <a:srgbClr val="595959"/>
                </a:solidFill>
                <a:latin typeface="Arial"/>
                <a:ea typeface="Arial"/>
                <a:cs typeface="Arial"/>
              </a:rPr>
              <a:t>π</a:t>
            </a:r>
            <a:r>
              <a:rPr sz="9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VLM 先验 · δ 有界修正 · c 限制偏离 · l 层深 · t 时间步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950" b="1">
                <a:solidFill>
                  <a:srgbClr val="C76A00"/>
                </a:solidFill>
                <a:latin typeface="微软雅黑"/>
                <a:ea typeface="微软雅黑"/>
                <a:cs typeface="微软雅黑"/>
              </a:rPr>
              <a:t>[待实验验证] 受约束 block/time 合并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291840"/>
            <a:ext cx="446227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8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08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一个共享 DiT / FLUX 主干，不复制整套模型；每种退化配一个专用 LoRA：模糊/噪声/雨/雾/低照。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8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08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复合退化时同时打开几个专家；没诊断到的退化对应专家权重为 0，不会被偷偷换掉。</a:t>
            </a:r>
          </a:p>
          <a:p>
            <a:pPr algn="l">
              <a:lnSpc>
                <a:spcPct val="116000"/>
              </a:lnSpc>
            </a:pPr>
            <a:r>
              <a:rPr sz="108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08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小路由器只能在 VLM 给的范围内微调，所以结果可解释、受约束。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公式拆解（一）：VLM 的诊断怎么变成专家初始权重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950976"/>
            <a:ext cx="11183112" cy="914400"/>
          </a:xfrm>
          <a:prstGeom prst="roundRect">
            <a:avLst/>
          </a:prstGeom>
          <a:solidFill>
            <a:srgbClr val="233B6D"/>
          </a:solidFill>
          <a:ln w="12700">
            <a:solidFill>
              <a:srgbClr val="233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π</a:t>
            </a:r>
            <a:r>
              <a:rPr sz="240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= Normalize( p</a:t>
            </a:r>
            <a:r>
              <a:rPr sz="240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× s</a:t>
            </a:r>
            <a:r>
              <a:rPr sz="240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56816"/>
            <a:ext cx="1118311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逐字符拆解（大白话）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2011680" cy="420624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π</a:t>
            </a:r>
            <a:r>
              <a:rPr sz="15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2286000"/>
            <a:ext cx="9079992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初始权重（先验）：还没让小路由器改动之前，专家 i 的“起始份额”。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61488"/>
            <a:ext cx="2011680" cy="420624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761488"/>
            <a:ext cx="9079992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下标，指第 i 种退化、也就是第 i 个专家（i=1…5：模糊/噪声/雨/雾/低照）。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36976"/>
            <a:ext cx="2011680" cy="420624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15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3236976"/>
            <a:ext cx="9079992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第 i 种退化“有没有”，VLM 给的概率，范围 0~1。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12464"/>
            <a:ext cx="2011680" cy="420624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s</a:t>
            </a:r>
            <a:r>
              <a:rPr sz="15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3712464"/>
            <a:ext cx="9079992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第 i 种退化“有多严重”，即严重度，越严重数字越大。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87952"/>
            <a:ext cx="2011680" cy="420624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4187952"/>
            <a:ext cx="9079992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相乘：要“又有、又重”才大；没看到（p≈0），乘出来就≈0。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63440"/>
            <a:ext cx="2011680" cy="420624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663440"/>
            <a:ext cx="9079992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归一化：五个数各自除以总和，让所有专家权重加起来等于 1。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175504"/>
            <a:ext cx="11183112" cy="1133856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举个例子（噪声+低照）：</a:t>
            </a:r>
            <a:r>
              <a:rPr sz="12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p×s 分别是 噪声 3.8、低照 2.7、其余≈0；归一化后 → 噪声 ≈0.58、低照 ≈0.41、其余专家 ≈0。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即：诊断到的两个专家分走几乎全部权重，没诊断到的专家几乎为 0。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公式拆解（二）：小路由器怎么微调，而且不能换专家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932688"/>
            <a:ext cx="11183112" cy="896112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210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100" b="1" baseline="30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(l,t)</a:t>
            </a:r>
            <a:r>
              <a:rPr sz="21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= Softmax( log(π</a:t>
            </a:r>
            <a:r>
              <a:rPr sz="210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1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+ε) + c·tanh(δ</a:t>
            </a:r>
            <a:r>
              <a:rPr sz="210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100" b="1" baseline="30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(l,t)</a:t>
            </a:r>
            <a:r>
              <a:rPr sz="21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1118311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逐字符拆解（大白话）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31136"/>
            <a:ext cx="2011680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15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500" b="1" baseline="30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(l,t)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2231136"/>
            <a:ext cx="907999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专家 i 的最终权重（份额）；上标表示它随 DiT 层 l、恢复时间步 t 变化。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6332"/>
            <a:ext cx="2011680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656332"/>
            <a:ext cx="907999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把括号里的一串数，变成“加起来等于 1”的权重。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81527"/>
            <a:ext cx="2011680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log(π</a:t>
            </a:r>
            <a:r>
              <a:rPr sz="15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+ε)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3081527"/>
            <a:ext cx="907999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把公式1的初始权重放进 logit 空间；ε 是个很小的数，防止 log(0) 报错。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06723"/>
            <a:ext cx="2011680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δ</a:t>
            </a:r>
            <a:r>
              <a:rPr sz="15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3506723"/>
            <a:ext cx="907999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小路由器看图像后“想改多少”的原始信号，可能很大。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31920"/>
            <a:ext cx="2011680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tanh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3931920"/>
            <a:ext cx="907999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压缩函数，把任意大的数压到 −1~+1（限幅，改不了太多）。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57116"/>
            <a:ext cx="2011680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357116"/>
            <a:ext cx="907999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封顶常数，给改动规定最大幅度，只允许小幅修正。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82312"/>
            <a:ext cx="2011680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500" b="1" baseline="30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(l,t)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4782312"/>
            <a:ext cx="907999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上标：l=DiT 第几层、t=恢复到第几步，修正随它们变化。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40096"/>
            <a:ext cx="11183112" cy="1005840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关键点：括号里 = VLM 初始权重 + 一个“被 tanh 限幅、被 c 封顶”的小修正，再 Softmax 归一化。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修正最多只有 ±c，无法把没诊断到的专家（π≈0）硬拉成主力——只许小修，不能换专家。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Switch Transformers：每个 token 只交给一个专家（稀疏激活）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0" name="Picture 9" descr="paper_sw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969264"/>
            <a:ext cx="6720840" cy="3781395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7269480" y="969264"/>
            <a:ext cx="4462272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233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LLM MoE 机制借鉴（1/6）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444752"/>
            <a:ext cx="4462272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它是什么（大白话）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一个模型里放很多个专家，但每个词（token）只让一个专家处理。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一个叫 router 的小网络算出每个词该去哪个专家。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再加“负载均衡”损失，让所有专家被均匀用到，别让某个专家被用爆。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675887"/>
            <a:ext cx="4462272" cy="1005840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C7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C76A00"/>
                </a:solidFill>
                <a:latin typeface="微软雅黑"/>
                <a:ea typeface="微软雅黑"/>
                <a:cs typeface="微软雅黑"/>
              </a:rPr>
              <a:t>我们借鉴什么</a:t>
            </a:r>
          </a:p>
          <a:p>
            <a:pPr algn="l">
              <a:lnSpc>
                <a:spcPct val="114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稀疏激活：复合退化时只打开需要的退化专家，不必全部计算，省算力。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754880"/>
            <a:ext cx="446227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>
                <a:solidFill>
                  <a:srgbClr val="8C8C8C"/>
                </a:solidFill>
                <a:latin typeface="Arial"/>
                <a:ea typeface="Arial"/>
                <a:cs typeface="Arial"/>
              </a:rPr>
              <a:t>arXiv 2101.03961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992624"/>
            <a:ext cx="11356848" cy="1078992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>
              <a:lnSpc>
                <a:spcPct val="124000"/>
              </a:lnSpc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这是 LLM 已有的成熟机制；我们只借“稀疏激活 + 负载均衡”，它本身不是复原创新。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Mixtral：每个 token 交给两个专家，结果再加权相加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10" name="Picture 9" descr="paper_mixt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969264"/>
            <a:ext cx="6720840" cy="3781395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7269480" y="969264"/>
            <a:ext cx="4462272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233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LLM MoE 机制借鉴（2/6）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444752"/>
            <a:ext cx="4462272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它是什么（大白话）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每一层放 8 个专家，每个 token 由 router 选出最合适的 2 个。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这两个专家各自处理，再按权重加权相加，得到最终输出。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675887"/>
            <a:ext cx="4462272" cy="1005840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C7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C76A00"/>
                </a:solidFill>
                <a:latin typeface="微软雅黑"/>
                <a:ea typeface="微软雅黑"/>
                <a:cs typeface="微软雅黑"/>
              </a:rPr>
              <a:t>我们借鉴什么</a:t>
            </a:r>
          </a:p>
          <a:p>
            <a:pPr algn="l">
              <a:lnSpc>
                <a:spcPct val="114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多专家加权：复合退化（如噪声+低照）时，多个退化专家的结果按权重融合。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754880"/>
            <a:ext cx="446227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>
                <a:solidFill>
                  <a:srgbClr val="8C8C8C"/>
                </a:solidFill>
                <a:latin typeface="Arial"/>
                <a:ea typeface="Arial"/>
                <a:cs typeface="Arial"/>
              </a:rPr>
              <a:t>arXiv 2401.04088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992624"/>
            <a:ext cx="11356848" cy="1078992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>
              <a:lnSpc>
                <a:spcPct val="124000"/>
              </a:lnSpc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我们借“多专家加权组合”；但权重怎么定、由什么约束，正是我们要解决的问题。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DeepSeekMoE：共享专家管通用，小专家管细分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10" name="Picture 9" descr="paper_deepsee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969264"/>
            <a:ext cx="6720840" cy="3781395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7269480" y="969264"/>
            <a:ext cx="4462272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233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LLM MoE 机制借鉴（3/6）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444752"/>
            <a:ext cx="4462272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它是什么（大白话）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一部分是“共享专家”，对每个 token 都开启，负责通用知识。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另一部分是数量多、个头小的“细分专家”，按需挑选。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输出 = 共享专家 + 被选中的细分专家。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675887"/>
            <a:ext cx="4462272" cy="1005840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C7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C76A00"/>
                </a:solidFill>
                <a:latin typeface="微软雅黑"/>
                <a:ea typeface="微软雅黑"/>
                <a:cs typeface="微软雅黑"/>
              </a:rPr>
              <a:t>我们借鉴什么</a:t>
            </a:r>
          </a:p>
          <a:p>
            <a:pPr algn="l">
              <a:lnSpc>
                <a:spcPct val="114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共享 + 专用分工：可以有一个通用专家保底，再叠加每种退化的专用专家。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754880"/>
            <a:ext cx="446227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>
                <a:solidFill>
                  <a:srgbClr val="8C8C8C"/>
                </a:solidFill>
                <a:latin typeface="Arial"/>
                <a:ea typeface="Arial"/>
                <a:cs typeface="Arial"/>
              </a:rPr>
              <a:t>arXiv 2401.06066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992624"/>
            <a:ext cx="11356848" cy="1078992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>
              <a:lnSpc>
                <a:spcPct val="124000"/>
              </a:lnSpc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对应图里虚线的“保护/通用专家”只是可选假设；我们借的是“共享 + 专用”的分工。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SMEAR：先把多个专家的参数融合成一个，再一次前向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0" name="Picture 9" descr="paper_sm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969264"/>
            <a:ext cx="6720840" cy="3781395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7269480" y="969264"/>
            <a:ext cx="4462272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233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LLM MoE 机制借鉴（4/6）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444752"/>
            <a:ext cx="4462272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它是什么（大白话）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不把 token 分给不同专家，而是学一组软权重。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先把多个专家的参数用软权重融合成“一个”网络，再只跑一次前向，推理更快。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675887"/>
            <a:ext cx="4462272" cy="1005840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C7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C76A00"/>
                </a:solidFill>
                <a:latin typeface="微软雅黑"/>
                <a:ea typeface="微软雅黑"/>
                <a:cs typeface="微软雅黑"/>
              </a:rPr>
              <a:t>我们借鉴什么</a:t>
            </a:r>
          </a:p>
          <a:p>
            <a:pPr algn="l">
              <a:lnSpc>
                <a:spcPct val="114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参数级合并：我们的 LoRA 也是在共享 DiT 上做权重合并，而不是把每个专家都跑一遍。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754880"/>
            <a:ext cx="446227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>
                <a:solidFill>
                  <a:srgbClr val="8C8C8C"/>
                </a:solidFill>
                <a:latin typeface="Arial"/>
                <a:ea typeface="Arial"/>
                <a:cs typeface="Arial"/>
              </a:rPr>
              <a:t>arXiv 2306.03745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992624"/>
            <a:ext cx="11356848" cy="1078992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>
              <a:lnSpc>
                <a:spcPct val="124000"/>
              </a:lnSpc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我们借“参数级合并”，不复制整套模型；但合并权重受 VLM 诊断约束，是我们的差异。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 X-LoRA：用模型自己的中间信号，动态缩放每个 LoRA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0" name="Picture 9" descr="paper_xl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969264"/>
            <a:ext cx="6720840" cy="3781395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7269480" y="969264"/>
            <a:ext cx="4462272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233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LLM MoE 机制借鉴（5/6）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444752"/>
            <a:ext cx="4462272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它是什么（大白话）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冻结底座大模型，外挂多个 LoRA 专家。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一个门控模块读模型自己的隐状态（hidden state），算出每个 LoRA 的缩放权重。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按这些权重把 LoRA 的增量动态混合后，加回底座。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675887"/>
            <a:ext cx="4462272" cy="1005840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C7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C76A00"/>
                </a:solidFill>
                <a:latin typeface="微软雅黑"/>
                <a:ea typeface="微软雅黑"/>
                <a:cs typeface="微软雅黑"/>
              </a:rPr>
              <a:t>我们借鉴什么</a:t>
            </a:r>
          </a:p>
          <a:p>
            <a:pPr algn="l">
              <a:lnSpc>
                <a:spcPct val="114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动态 LoRA 缩放：用一个小门控模块决定当前每个退化 LoRA 用多大。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754880"/>
            <a:ext cx="446227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>
                <a:solidFill>
                  <a:srgbClr val="8C8C8C"/>
                </a:solidFill>
                <a:latin typeface="Arial"/>
                <a:ea typeface="Arial"/>
                <a:cs typeface="Arial"/>
              </a:rPr>
              <a:t>arXiv 2402.07148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992624"/>
            <a:ext cx="11356848" cy="1078992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>
              <a:lnSpc>
                <a:spcPct val="124000"/>
              </a:lnSpc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我们借“按信号动态缩放 LoRA”；区别是我们用的是 VLM 的显式诊断，而非纯隐状态。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⑥ LoRA-Flow：LoRA 的融合权重随网络层、随位置变化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0" name="Picture 9" descr="paper_lora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969264"/>
            <a:ext cx="6720840" cy="3781395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7269480" y="969264"/>
            <a:ext cx="4462272" cy="38404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233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LLM MoE 机制借鉴（6/6）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444752"/>
            <a:ext cx="4462272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它是什么（大白话）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冻结底座 + 多个 LoRA，用一个轻量 gate 生成融合权重。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30" b="1">
                <a:solidFill>
                  <a:srgbClr val="1F7A6D"/>
                </a:solidFill>
                <a:latin typeface="Arial"/>
                <a:ea typeface="Arial"/>
                <a:cs typeface="Arial"/>
              </a:rPr>
              <a:t>•  </a:t>
            </a:r>
            <a:r>
              <a:rPr sz="113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权重不仅每层不同，同一层里不同位置（token）也不同。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675887"/>
            <a:ext cx="4462272" cy="1005840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C7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C76A00"/>
                </a:solidFill>
                <a:latin typeface="微软雅黑"/>
                <a:ea typeface="微软雅黑"/>
                <a:cs typeface="微软雅黑"/>
              </a:rPr>
              <a:t>我们借鉴什么</a:t>
            </a:r>
          </a:p>
          <a:p>
            <a:pPr algn="l">
              <a:lnSpc>
                <a:spcPct val="114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逐层、逐阶段调度：我们的合并权重随 DiT 层 l 和恢复时间步 t 变化。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754880"/>
            <a:ext cx="446227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>
                <a:solidFill>
                  <a:srgbClr val="8C8C8C"/>
                </a:solidFill>
                <a:latin typeface="Arial"/>
                <a:ea typeface="Arial"/>
                <a:cs typeface="Arial"/>
              </a:rPr>
              <a:t>arXiv 2402.11455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992624"/>
            <a:ext cx="11356848" cy="1078992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>
              <a:lnSpc>
                <a:spcPct val="124000"/>
              </a:lnSpc>
            </a:pPr>
            <a:r>
              <a:rPr sz="12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我们借“</a:t>
            </a:r>
            <a:r>
              <a:rPr sz="1250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随层、随阶段变化的权重</a:t>
            </a:r>
            <a:r>
              <a:rPr sz="12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”；</a:t>
            </a:r>
            <a:r>
              <a:rPr sz="1250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区别是权重起点来自</a:t>
            </a:r>
            <a:r>
              <a:rPr sz="12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VLM </a:t>
            </a:r>
            <a:r>
              <a:rPr sz="1250" b="1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诊断，并且受边界约束</a:t>
            </a:r>
            <a:r>
              <a:rPr sz="125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我们的创新点：让 VLM 的诊断直接、且受约束地决定专家怎么合并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VLM-Guided Constrained Expert Merge for DiT Restoration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932688"/>
            <a:ext cx="11183112" cy="1005840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一句话：VLM 逐类判断“有什么退化、多严重”，把它变成专家初始权重；MoE 只能在这个初始权重附近做小幅修正，</a:t>
            </a:r>
          </a:p>
          <a:p>
            <a:pPr algn="ctr">
              <a:lnSpc>
                <a:spcPct val="124000"/>
              </a:lnSpc>
            </a:pP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且权重随网络层和恢复时间步变化。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84831"/>
            <a:ext cx="361188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① 诊断驱动（不是黑箱猜）</a:t>
            </a:r>
          </a:p>
          <a:p>
            <a:pPr algn="l">
              <a:lnSpc>
                <a:spcPct val="126000"/>
              </a:lnSpc>
            </a:pPr>
            <a:r>
              <a:rPr sz="12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专家权重的起点来自 VLM 对每类退化的显式判断：有没有、多严重；而不是让路由器从图像里自己猜。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084831"/>
            <a:ext cx="3611880" cy="22128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② 受约束（不能乱换专家）</a:t>
            </a:r>
          </a:p>
          <a:p>
            <a:pPr algn="l">
              <a:lnSpc>
                <a:spcPct val="126000"/>
              </a:lnSpc>
            </a:pPr>
            <a:r>
              <a:rPr sz="12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路由器只能在 VLM 圈定的范围内微调，不能偷偷换成没诊断到的专家，所以结果可解释、可检查。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2084831"/>
            <a:ext cx="361188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③ 会随阶段变化</a:t>
            </a:r>
          </a:p>
          <a:p>
            <a:pPr algn="l">
              <a:lnSpc>
                <a:spcPct val="126000"/>
              </a:lnSpc>
            </a:pPr>
            <a:r>
              <a:rPr sz="12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权重按 DiT 第几层、恢复到第几步调整，能表达“先去噪、后补细节”的先后顺序。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25696"/>
            <a:ext cx="11183112" cy="530352"/>
          </a:xfrm>
          <a:prstGeom prst="roundRect">
            <a:avLst/>
          </a:prstGeom>
          <a:solidFill>
            <a:srgbClr val="233B6D"/>
          </a:solidFill>
          <a:ln w="12700">
            <a:solidFill>
              <a:srgbClr val="233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π</a:t>
            </a:r>
            <a:r>
              <a:rPr sz="125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2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= Normalize(p</a:t>
            </a:r>
            <a:r>
              <a:rPr sz="125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2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×s</a:t>
            </a:r>
            <a:r>
              <a:rPr sz="125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2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   初始权重 → 有界修正 → 随层/时间步权重      </a:t>
            </a:r>
            <a:r>
              <a:rPr sz="12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125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250" b="1" baseline="30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(l,t)</a:t>
            </a:r>
            <a:r>
              <a:rPr sz="12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= Softmax(log(π</a:t>
            </a:r>
            <a:r>
              <a:rPr sz="125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2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+ε) + c·tanh(δ</a:t>
            </a:r>
            <a:r>
              <a:rPr sz="125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1250" b="1" baseline="30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(l,t)</a:t>
            </a:r>
            <a:r>
              <a:rPr sz="12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1362</Words>
  <Application>Microsoft Office PowerPoint</Application>
  <PresentationFormat>Widescreen</PresentationFormat>
  <Paragraphs>172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微软雅黑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汪桢昊</dc:creator>
  <cp:keywords/>
  <dc:description>generated using python-pptx</dc:description>
  <cp:lastModifiedBy>桢昊 汪</cp:lastModifiedBy>
  <cp:revision>2</cp:revision>
  <dcterms:created xsi:type="dcterms:W3CDTF">2013-01-27T09:14:16Z</dcterms:created>
  <dcterms:modified xsi:type="dcterms:W3CDTF">2026-10-22T20:42:17Z</dcterms:modified>
  <cp:category/>
</cp:coreProperties>
</file>