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桢昊 汪" userId="eccca4c29d76eb0e" providerId="LiveId" clId="{1EA189EC-D938-4CE5-9EF6-214ED9C61CE0}"/>
    <pc:docChg chg="custSel delSld modSld">
      <pc:chgData name="桢昊 汪" userId="eccca4c29d76eb0e" providerId="LiveId" clId="{1EA189EC-D938-4CE5-9EF6-214ED9C61CE0}" dt="2026-10-15T09:52:24.535" v="4" actId="478"/>
      <pc:docMkLst>
        <pc:docMk/>
      </pc:docMkLst>
      <pc:sldChg chg="delSp mod">
        <pc:chgData name="桢昊 汪" userId="eccca4c29d76eb0e" providerId="LiveId" clId="{1EA189EC-D938-4CE5-9EF6-214ED9C61CE0}" dt="2026-10-15T09:52:24.535" v="4" actId="478"/>
        <pc:sldMkLst>
          <pc:docMk/>
          <pc:sldMk cId="0" sldId="261"/>
        </pc:sldMkLst>
        <pc:spChg chg="del">
          <ac:chgData name="桢昊 汪" userId="eccca4c29d76eb0e" providerId="LiveId" clId="{1EA189EC-D938-4CE5-9EF6-214ED9C61CE0}" dt="2026-10-15T09:52:24.535" v="4" actId="478"/>
          <ac:spMkLst>
            <pc:docMk/>
            <pc:sldMk cId="0" sldId="261"/>
            <ac:spMk id="20" creationId="{00000000-0000-0000-0000-000000000000}"/>
          </ac:spMkLst>
        </pc:spChg>
        <pc:spChg chg="del">
          <ac:chgData name="桢昊 汪" userId="eccca4c29d76eb0e" providerId="LiveId" clId="{1EA189EC-D938-4CE5-9EF6-214ED9C61CE0}" dt="2026-10-15T09:52:22.137" v="3" actId="478"/>
          <ac:spMkLst>
            <pc:docMk/>
            <pc:sldMk cId="0" sldId="261"/>
            <ac:spMk id="22" creationId="{00000000-0000-0000-0000-000000000000}"/>
          </ac:spMkLst>
        </pc:spChg>
      </pc:sldChg>
      <pc:sldChg chg="del">
        <pc:chgData name="桢昊 汪" userId="eccca4c29d76eb0e" providerId="LiveId" clId="{1EA189EC-D938-4CE5-9EF6-214ED9C61CE0}" dt="2026-10-15T09:34:07.195" v="0" actId="2696"/>
        <pc:sldMkLst>
          <pc:docMk/>
          <pc:sldMk cId="0" sldId="264"/>
        </pc:sldMkLst>
      </pc:sldChg>
      <pc:sldChg chg="del">
        <pc:chgData name="桢昊 汪" userId="eccca4c29d76eb0e" providerId="LiveId" clId="{1EA189EC-D938-4CE5-9EF6-214ED9C61CE0}" dt="2026-10-15T09:34:16.519" v="1" actId="2696"/>
        <pc:sldMkLst>
          <pc:docMk/>
          <pc:sldMk cId="0" sldId="265"/>
        </pc:sldMkLst>
      </pc:sldChg>
      <pc:sldChg chg="del">
        <pc:chgData name="桢昊 汪" userId="eccca4c29d76eb0e" providerId="LiveId" clId="{1EA189EC-D938-4CE5-9EF6-214ED9C61CE0}" dt="2026-10-15T09:34:23.248" v="2" actId="2696"/>
        <pc:sldMkLst>
          <pc:docMk/>
          <pc:sldMk cId="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54864"/>
            <a:ext cx="100584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VLM-Conditioned Restoration Energy for All-in-One Image Restoration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9994392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面向 All-in-One Image Restoration 的</a:t>
            </a:r>
          </a:p>
          <a:p>
            <a:pPr algn="ctr">
              <a:lnSpc>
                <a:spcPct val="112000"/>
              </a:lnSpc>
            </a:pPr>
            <a:r>
              <a:rPr sz="34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VLM-Conditioned Restoration Energy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3675887"/>
            <a:ext cx="2221992" cy="25603"/>
          </a:xfrm>
          <a:prstGeom prst="rect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3840480"/>
            <a:ext cx="9628632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>
                <a:solidFill>
                  <a:srgbClr val="595959"/>
                </a:solidFill>
                <a:latin typeface="Arial"/>
                <a:ea typeface="Arial"/>
                <a:cs typeface="Arial"/>
              </a:rPr>
              <a:t>从 Frozen FLUX.2 / Restormer Proposal</a:t>
            </a:r>
          </a:p>
          <a:p>
            <a:pPr algn="ctr">
              <a:lnSpc>
                <a:spcPct val="125000"/>
              </a:lnSpc>
            </a:pPr>
            <a:r>
              <a:rPr sz="16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到可评价、可修正的 Restoration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956048"/>
            <a:ext cx="6702552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7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创新点研究方案汇报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5532120"/>
            <a:ext cx="5577840" cy="384048"/>
          </a:xfrm>
          <a:prstGeom prst="roundRect">
            <a:avLst/>
          </a:prstGeom>
          <a:solidFill>
            <a:srgbClr val="FDF3E7"/>
          </a:solidFill>
          <a:ln w="12700">
            <a:solidFill>
              <a:srgbClr val="C7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76A00"/>
                </a:solidFill>
                <a:latin typeface="微软雅黑"/>
                <a:ea typeface="微软雅黑"/>
                <a:cs typeface="微软雅黑"/>
              </a:rPr>
              <a:t>研究方案 · 所述方法与预期结果均尚未实验验证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VLM-Conditioned Restoration Energy · 创新点研究方案汇报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项目指标已经达标，但仍缺少论文级方法创新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VLM-Conditioned Restoration Energy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024128"/>
            <a:ext cx="3383280" cy="16276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Singleton · 当前开发集结果</a:t>
            </a:r>
          </a:p>
          <a:p>
            <a:pPr algn="ctr">
              <a:lnSpc>
                <a:spcPct val="105000"/>
              </a:lnSpc>
            </a:pPr>
            <a:r>
              <a:rPr sz="11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PSNR </a:t>
            </a:r>
            <a:r>
              <a:rPr sz="1900" b="1">
                <a:solidFill>
                  <a:srgbClr val="233B6D"/>
                </a:solidFill>
                <a:latin typeface="Arial"/>
                <a:ea typeface="Arial"/>
                <a:cs typeface="Arial"/>
              </a:rPr>
              <a:t>28.714078</a:t>
            </a:r>
            <a:r>
              <a:rPr sz="11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  LPIPS </a:t>
            </a:r>
            <a:r>
              <a:rPr sz="1900" b="1">
                <a:solidFill>
                  <a:srgbClr val="233B6D"/>
                </a:solidFill>
                <a:latin typeface="Arial"/>
                <a:ea typeface="Arial"/>
                <a:cs typeface="Arial"/>
              </a:rPr>
              <a:t>0.141957</a:t>
            </a:r>
          </a:p>
          <a:p>
            <a:pPr algn="ctr"/>
            <a:r>
              <a:rPr sz="100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single degradation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024128"/>
            <a:ext cx="3383280" cy="16276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Double · 当前开发集结果</a:t>
            </a:r>
          </a:p>
          <a:p>
            <a:pPr algn="ctr">
              <a:lnSpc>
                <a:spcPct val="105000"/>
              </a:lnSpc>
            </a:pPr>
            <a:r>
              <a:rPr sz="11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PSNR </a:t>
            </a:r>
            <a:r>
              <a:rPr sz="1900" b="1">
                <a:solidFill>
                  <a:srgbClr val="233B6D"/>
                </a:solidFill>
                <a:latin typeface="Arial"/>
                <a:ea typeface="Arial"/>
                <a:cs typeface="Arial"/>
              </a:rPr>
              <a:t>24.321537</a:t>
            </a:r>
            <a:r>
              <a:rPr sz="110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  LPIPS </a:t>
            </a:r>
            <a:r>
              <a:rPr sz="1900" b="1">
                <a:solidFill>
                  <a:srgbClr val="233B6D"/>
                </a:solidFill>
                <a:latin typeface="Arial"/>
                <a:ea typeface="Arial"/>
                <a:cs typeface="Arial"/>
              </a:rPr>
              <a:t>0.192313</a:t>
            </a:r>
          </a:p>
          <a:p>
            <a:pPr algn="ctr"/>
            <a:r>
              <a:rPr sz="100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double degradation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2127" y="1024128"/>
            <a:ext cx="3803904" cy="1627632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现状判断</a:t>
            </a:r>
          </a:p>
          <a:p>
            <a:pPr algn="l">
              <a:lnSpc>
                <a:spcPct val="118000"/>
              </a:lnSpc>
            </a:pPr>
            <a:r>
              <a:rPr sz="12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“VLM routing + restoration experts” 已有大量相关工作，仅有指标与工程集成，无法自动形成论文创新点。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52928"/>
            <a:ext cx="111831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5214" rIns="164592" bIns="115214" rtlCol="0" anchor="ctr"/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500"/>
              </a:spcAft>
            </a:pPr>
            <a:r>
              <a:rPr sz="12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•  </a:t>
            </a:r>
            <a:r>
              <a:rPr sz="13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当前 FLUX.2 / Restormer 系统已在 single 与 double degradation 上取得较好结果。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•  </a:t>
            </a:r>
            <a:r>
              <a:rPr sz="13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指标达标证明系统有效，但不构成方法层面的论文贡献。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•  </a:t>
            </a:r>
            <a:r>
              <a:rPr sz="13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需要从现有系统的具体失败出发，提出可被实验验证的新建模方法。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175504"/>
            <a:ext cx="11183112" cy="1133856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研究重点从“继续堆指标”转向：</a:t>
            </a:r>
          </a:p>
          <a:p>
            <a:pPr algn="ctr"/>
            <a:r>
              <a:rPr sz="1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现有系统为什么无法判断和修正自己的 restoration output？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现有系统只能产生结果，不能判断结果是否真的恢复正确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VLM-Conditioned Restoration Energy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10" name="Picture 9" descr="fig1_g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24128"/>
            <a:ext cx="6537960" cy="3678500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7178040" y="1024128"/>
            <a:ext cx="450799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完成 routing 与 restoration 后，仍无法可靠回答：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是否还有 residual degradation？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是否发生 under-restoration？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是否发生 over-restoration？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是否选择了错误的 expert？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退化被清除的同时，是否破坏了纹理和细节？</a:t>
            </a:r>
          </a:p>
          <a:p>
            <a:pPr algn="l">
              <a:lnSpc>
                <a:spcPct val="112000"/>
              </a:lnSpc>
            </a:pPr>
            <a:r>
              <a:rPr sz="12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是否值得继续处理当前结果？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38928"/>
            <a:ext cx="11274552" cy="1170432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ctr"/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核心问题：系统学习了“使用哪个 restoration model”，却没有显式学习“当前 restoration result 是否正确”。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现有方法分别解决了部分问题，但没有完全覆盖我们的目标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VLM-Conditioned Restoration Energy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960120"/>
            <a:ext cx="4617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233B6D"/>
                </a:solidFill>
                <a:latin typeface="Arial"/>
                <a:ea typeface="Arial"/>
                <a:cs typeface="Arial"/>
              </a:rPr>
              <a:t>VLU-Net</a:t>
            </a: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VLM condition 控制 degradation-aware deep unfolding；展开为 8 个预训练 non-shared PGD stages；属 fixed-depth learned path，无显式 scalar candidate energy。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148839"/>
            <a:ext cx="4617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233B6D"/>
                </a:solidFill>
                <a:latin typeface="Arial"/>
                <a:ea typeface="Arial"/>
                <a:cs typeface="Arial"/>
              </a:rPr>
              <a:t>SIPL</a:t>
            </a: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用第一次 restoration output 做 iterative self-refinement，证明 test-time feedback 可改善复合退化；但未显式学习 candidate quality objective。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337559"/>
            <a:ext cx="4617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233B6D"/>
                </a:solidFill>
                <a:latin typeface="Arial"/>
                <a:ea typeface="Arial"/>
                <a:cs typeface="Arial"/>
              </a:rPr>
              <a:t>KDS / ResFlow-Tuner / TTPO</a:t>
            </a: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已研究 image restoration test-time scaling，分别依赖 particle density、external reward model、IQA / preference feedback；“restoration TTS”本身不是我们的创新。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526279"/>
            <a:ext cx="4617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233B6D"/>
                </a:solidFill>
                <a:latin typeface="Arial"/>
                <a:ea typeface="Arial"/>
                <a:cs typeface="Arial"/>
              </a:rPr>
              <a:t>Energy-Based Transformer</a:t>
            </a:r>
          </a:p>
          <a:p>
            <a:pPr algn="l">
              <a:lnSpc>
                <a:spcPct val="110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可学习 candidate-dependent scalar energy，用 energy gradient 优化 candidate、并用于 ranking；图像实验主要为简单 denoising，未研究 VLM-guided heterogeneous AiOIR proposals。</a:t>
            </a:r>
          </a:p>
        </p:txBody>
      </p:sp>
      <p:pic>
        <p:nvPicPr>
          <p:cNvPr id="14" name="Picture 13" descr="fig4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188720"/>
            <a:ext cx="6446520" cy="3627053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5230368" y="4882896"/>
            <a:ext cx="6446520" cy="1371600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定位结论</a:t>
            </a:r>
          </a:p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不能声称“首个 VLM gradient restoration”</a:t>
            </a:r>
          </a:p>
          <a:p>
            <a:pPr algn="ctr"/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或“首个 restoration TTS”。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我们真正准备研究什么？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VLM-Conditioned Restoration Energy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024128"/>
            <a:ext cx="10543032" cy="932688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lnSpc>
                <a:spcPct val="120000"/>
              </a:lnSpc>
            </a:pPr>
            <a:r>
              <a:rPr sz="14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能否针对 frozen FLUX.2 / Restormer output，学习一个由原始 degraded image 与 VLM degradation condition</a:t>
            </a:r>
          </a:p>
          <a:p>
            <a:pPr algn="ctr"/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共同约束的 restoration energy？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139696"/>
            <a:ext cx="4599432" cy="932688"/>
          </a:xfrm>
          <a:prstGeom prst="roundRect">
            <a:avLst/>
          </a:prstGeom>
          <a:solidFill>
            <a:srgbClr val="233B6D"/>
          </a:solidFill>
          <a:ln w="12700">
            <a:solidFill>
              <a:srgbClr val="233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3000" b="1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θ</a:t>
            </a:r>
            <a:r>
              <a:rPr sz="30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( y ; x , c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10128"/>
            <a:ext cx="267919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x</a:t>
            </a:r>
          </a:p>
          <a:p>
            <a:pPr algn="ctr">
              <a:lnSpc>
                <a:spcPct val="105000"/>
              </a:lnSpc>
            </a:pPr>
            <a:r>
              <a:rPr sz="10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原始 degraded image（观察证据）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310128"/>
            <a:ext cx="267919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y</a:t>
            </a:r>
          </a:p>
          <a:p>
            <a:pPr algn="ctr">
              <a:lnSpc>
                <a:spcPct val="105000"/>
              </a:lnSpc>
            </a:pPr>
            <a:r>
              <a:rPr sz="10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当前 restoration candidate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310128"/>
            <a:ext cx="267919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c</a:t>
            </a:r>
          </a:p>
          <a:p>
            <a:pPr algn="ctr">
              <a:lnSpc>
                <a:spcPct val="105000"/>
              </a:lnSpc>
            </a:pPr>
            <a:r>
              <a:rPr sz="10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VLM 识别的 degradation type / severity / composition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3310128"/>
            <a:ext cx="267919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y₀</a:t>
            </a:r>
          </a:p>
          <a:p>
            <a:pPr algn="ctr">
              <a:lnSpc>
                <a:spcPct val="105000"/>
              </a:lnSpc>
            </a:pPr>
            <a:r>
              <a:rPr sz="10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frozen FLUX.2 / Restormer initial proposal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26280"/>
            <a:ext cx="11183112" cy="1783080"/>
          </a:xfrm>
          <a:prstGeom prst="roundRect">
            <a:avLst/>
          </a:prstGeom>
          <a:solidFill>
            <a:srgbClr val="FBEDED"/>
          </a:solidFill>
          <a:ln w="12700">
            <a:solidFill>
              <a:srgbClr val="E6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2412" rIns="146304" bIns="102412" rtlCol="0" anchor="ctr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该 energy 需要判断：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当前 candidate 是否真正清除了目标退化    •  是否还有残余退化    •  是否发生过度处理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是否使用了错误的 restoration operation    •  是否相对 initial proposal 产生了真实改善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Proposed Method：从 Frozen Proposal 出发做 Candidate-Energy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VLM-Conditioned Restoration Energy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987552"/>
            <a:ext cx="384048" cy="38404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969264"/>
            <a:ext cx="29260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VLM 分析输入图像的 degradation condition c。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1865376"/>
            <a:ext cx="384048" cy="38404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1847088"/>
            <a:ext cx="29260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frozen FLUX.2 / Restormer 产生 initial proposal：y₀ = F_frozen(x, c)。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743200"/>
            <a:ext cx="384048" cy="38404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724912"/>
            <a:ext cx="29260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学习 candidate-dependent restoration energy：Eθ(y; x, c)。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621024"/>
            <a:ext cx="384048" cy="38404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602736"/>
            <a:ext cx="29260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用 candidate gradient 修正当前结果：yₜ₊₁ = yₜ − αₜ∇ᵧEθ(yₜ; x, c)。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498848"/>
            <a:ext cx="384048" cy="38404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480560"/>
            <a:ext cx="29260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7" bIns="64007" rtlCol="0" anchor="ctr"/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比较不同 refinement states：y₀, y₁, y₂, y₃。</a:t>
            </a:r>
          </a:p>
        </p:txBody>
      </p:sp>
      <p:pic>
        <p:nvPicPr>
          <p:cNvPr id="21" name="Picture 20" descr="fig2_meth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1051560"/>
            <a:ext cx="7589520" cy="4270147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关键改动：学习 Restoration Action 的正确性，而非普通 Clean-Image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VLM-Conditioned Restoration Energy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987552"/>
            <a:ext cx="4160520" cy="1170432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普通 image energy：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“这张图是否像一张自然图像？”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267712"/>
            <a:ext cx="4160520" cy="1243584"/>
          </a:xfrm>
          <a:prstGeom prst="roundRect">
            <a:avLst/>
          </a:prstGeom>
          <a:solidFill>
            <a:srgbClr val="FBEDED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我们希望学习：</a:t>
            </a: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“对于这张具体的 degraded image，这一次 restoration operation 是否真正正确？”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621024"/>
            <a:ext cx="4160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33B6D"/>
                </a:solidFill>
                <a:latin typeface="微软雅黑"/>
                <a:ea typeface="微软雅黑"/>
                <a:cs typeface="微软雅黑"/>
              </a:rPr>
              <a:t>同一输入生成并比较：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2329"/>
                </a:solidFill>
                <a:latin typeface="Arial"/>
                <a:ea typeface="Arial"/>
                <a:cs typeface="Arial"/>
              </a:rPr>
              <a:t>No restoration · Under-restored · Frozen y₀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2329"/>
                </a:solidFill>
                <a:latin typeface="Arial"/>
                <a:ea typeface="Arial"/>
                <a:cs typeface="Arial"/>
              </a:rPr>
              <a:t>Correctly refined · Over-restored</a:t>
            </a:r>
          </a:p>
          <a:p>
            <a:pPr algn="l">
              <a:lnSpc>
                <a:spcPct val="120000"/>
              </a:lnSpc>
            </a:pPr>
            <a:r>
              <a:rPr sz="1050">
                <a:solidFill>
                  <a:srgbClr val="1F2329"/>
                </a:solidFill>
                <a:latin typeface="Arial"/>
                <a:ea typeface="Arial"/>
                <a:cs typeface="Arial"/>
              </a:rPr>
              <a:t>Wrong-expert · Repeated artifacts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138928"/>
            <a:ext cx="4160520" cy="1152144"/>
          </a:xfrm>
          <a:prstGeom prst="roundRect">
            <a:avLst/>
          </a:prstGeom>
          <a:solidFill>
            <a:srgbClr val="233B6D"/>
          </a:solidFill>
          <a:ln w="12700">
            <a:solidFill>
              <a:srgbClr val="233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E(correct) &lt; E(under-restored)</a:t>
            </a:r>
          </a:p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E(correct) &lt; E(over-restored)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E(correct) &lt; E(wrong-expert)</a:t>
            </a:r>
          </a:p>
        </p:txBody>
      </p:sp>
      <p:pic>
        <p:nvPicPr>
          <p:cNvPr id="14" name="Picture 13" descr="fig3_trai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43000"/>
            <a:ext cx="6885432" cy="3874001"/>
          </a:xfrm>
          <a:prstGeom prst="rect">
            <a:avLst/>
          </a:prstGeom>
          <a:ln w="12700">
            <a:solidFill>
              <a:srgbClr val="D0D0D0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4800600" y="5138928"/>
            <a:ext cx="6885432" cy="1152144"/>
          </a:xfrm>
          <a:prstGeom prst="roundRect">
            <a:avLst/>
          </a:prstGeom>
          <a:solidFill>
            <a:srgbClr val="FBEDED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6809" rIns="109728" bIns="76809" rtlCol="0" anchor="ctr"/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Action-contrastive：</a:t>
            </a:r>
            <a:r>
              <a:rPr sz="12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比较不同 restoration operations 的后果。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Proposal-relative：</a:t>
            </a:r>
            <a:r>
              <a:rPr sz="120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判断新修改相对 frozen proposal 是改善还是破坏。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-54864" y="0"/>
            <a:ext cx="12307824" cy="685800"/>
          </a:xfrm>
          <a:prstGeom prst="parallelogram">
            <a:avLst/>
          </a:prstGeom>
          <a:solidFill>
            <a:srgbClr val="C8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8580"/>
            <a:ext cx="548640" cy="548640"/>
          </a:xfrm>
          <a:prstGeom prst="rect">
            <a:avLst/>
          </a:prstGeom>
        </p:spPr>
      </p:pic>
      <p:sp>
        <p:nvSpPr>
          <p:cNvPr id="5" name="Parallelogram 4"/>
          <p:cNvSpPr/>
          <p:nvPr/>
        </p:nvSpPr>
        <p:spPr>
          <a:xfrm>
            <a:off x="11430000" y="118872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018520" y="321868"/>
            <a:ext cx="475488" cy="242316"/>
          </a:xfrm>
          <a:prstGeom prst="parallelogram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5720"/>
            <a:ext cx="97840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Training Objective：Energy 必须同时学会“判断结果”与“提供修正方向”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6510528"/>
            <a:ext cx="1033272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222222"/>
                </a:solidFill>
                <a:latin typeface="Arial"/>
                <a:ea typeface="Arial"/>
                <a:cs typeface="Arial"/>
              </a:rPr>
              <a:t>VLM-Conditioned Restoration Energy · 创新点研究方案汇报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510528"/>
            <a:ext cx="914400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100">
                <a:solidFill>
                  <a:srgbClr val="8C8C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987552"/>
            <a:ext cx="5477256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987552"/>
            <a:ext cx="5477256" cy="457200"/>
          </a:xfrm>
          <a:prstGeom prst="roundRect">
            <a:avLst/>
          </a:prstGeom>
          <a:solidFill>
            <a:srgbClr val="C8161E"/>
          </a:solidFill>
          <a:ln w="12700">
            <a:solidFill>
              <a:srgbClr val="C81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第一部分 · Candidate Ranking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72768"/>
            <a:ext cx="5020056" cy="1078992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10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rank</a:t>
            </a:r>
            <a:r>
              <a:rPr sz="15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 = max( 0 , m + E(y</a:t>
            </a:r>
            <a:r>
              <a:rPr sz="10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better</a:t>
            </a:r>
            <a:r>
              <a:rPr sz="15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; x, c) − E(y</a:t>
            </a:r>
            <a:r>
              <a:rPr sz="10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worse</a:t>
            </a:r>
            <a:r>
              <a:rPr sz="15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; x, c)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761488"/>
            <a:ext cx="4965192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作用：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Correct candidate 的 energy 更低；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Wrong、under-restored、over-restored candidates 的 energy 更高。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987552"/>
            <a:ext cx="5477256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08776" y="987552"/>
            <a:ext cx="5477256" cy="457200"/>
          </a:xfrm>
          <a:prstGeom prst="roundRect">
            <a:avLst/>
          </a:prstGeom>
          <a:solidFill>
            <a:srgbClr val="C8161E"/>
          </a:solidFill>
          <a:ln w="12700">
            <a:solidFill>
              <a:srgbClr val="C81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第二部分 · Gradient Refinement Loss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7376" y="1572768"/>
            <a:ext cx="5020056" cy="1078992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1206" rIns="73152" bIns="51206" rtlCol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y</a:t>
            </a:r>
            <a:r>
              <a:rPr sz="10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 = y</a:t>
            </a:r>
            <a:r>
              <a:rPr sz="10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 − α∇</a:t>
            </a:r>
            <a:r>
              <a:rPr sz="10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y</a:t>
            </a:r>
            <a:r>
              <a:rPr sz="14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10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θ</a:t>
            </a:r>
            <a:r>
              <a:rPr sz="14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(y</a:t>
            </a:r>
            <a:r>
              <a:rPr sz="10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14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; x, c)</a:t>
            </a:r>
          </a:p>
          <a:p>
            <a:pPr algn="ctr"/>
            <a:r>
              <a:rPr sz="14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10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refine</a:t>
            </a:r>
            <a:r>
              <a:rPr sz="14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 = L1(y</a:t>
            </a:r>
            <a:r>
              <a:rPr sz="10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, y</a:t>
            </a:r>
            <a:r>
              <a:rPr sz="10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GT</a:t>
            </a:r>
            <a:r>
              <a:rPr sz="14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) + λ·LPIPS(y</a:t>
            </a:r>
            <a:r>
              <a:rPr sz="10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14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, y</a:t>
            </a:r>
            <a:r>
              <a:rPr sz="1000" b="1" baseline="-25000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GT</a:t>
            </a:r>
            <a:r>
              <a:rPr sz="1400" b="1">
                <a:solidFill>
                  <a:srgbClr val="233B6D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761488"/>
            <a:ext cx="4965192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作用：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不仅让 energy 数值正确排序；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还要求 energy gradient 真正提高 restoration quality。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07408"/>
            <a:ext cx="11183112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总目标：</a:t>
            </a:r>
            <a:r>
              <a:rPr sz="1500" b="1">
                <a:solidFill>
                  <a:srgbClr val="C00000"/>
                </a:solidFill>
                <a:latin typeface="Cambria Math"/>
                <a:ea typeface="Cambria Math"/>
                <a:cs typeface="Cambria Math"/>
              </a:rPr>
              <a:t>L = L</a:t>
            </a:r>
            <a:r>
              <a:rPr sz="1000" b="1" baseline="-25000">
                <a:solidFill>
                  <a:srgbClr val="C00000"/>
                </a:solidFill>
                <a:latin typeface="Cambria Math"/>
                <a:ea typeface="Cambria Math"/>
                <a:cs typeface="Cambria Math"/>
              </a:rPr>
              <a:t>refine</a:t>
            </a:r>
            <a:r>
              <a:rPr sz="1500" b="1">
                <a:solidFill>
                  <a:srgbClr val="C00000"/>
                </a:solidFill>
                <a:latin typeface="Cambria Math"/>
                <a:ea typeface="Cambria Math"/>
                <a:cs typeface="Cambria Math"/>
              </a:rPr>
              <a:t> + λ</a:t>
            </a:r>
            <a:r>
              <a:rPr sz="1000" b="1" baseline="-25000">
                <a:solidFill>
                  <a:srgbClr val="C00000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1500" b="1">
                <a:solidFill>
                  <a:srgbClr val="C00000"/>
                </a:solidFill>
                <a:latin typeface="Cambria Math"/>
                <a:ea typeface="Cambria Math"/>
                <a:cs typeface="Cambria Math"/>
              </a:rPr>
              <a:t>·L</a:t>
            </a:r>
            <a:r>
              <a:rPr sz="1000" b="1" baseline="-25000">
                <a:solidFill>
                  <a:srgbClr val="C00000"/>
                </a:solidFill>
                <a:latin typeface="Cambria Math"/>
                <a:ea typeface="Cambria Math"/>
                <a:cs typeface="Cambria Math"/>
              </a:rPr>
              <a:t>rank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64608"/>
            <a:ext cx="11183112" cy="1426464"/>
          </a:xfrm>
          <a:prstGeom prst="roundRect">
            <a:avLst/>
          </a:prstGeom>
          <a:solidFill>
            <a:srgbClr val="FDF6E3"/>
          </a:solidFill>
          <a:ln w="12700">
            <a:solidFill>
              <a:srgbClr val="9A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9611" rIns="128016" bIns="89611" rtlCol="0" anchor="ctr"/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Clean GT 仅用于 training 与 evaluation；inference 时不使用 GT。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150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•  Self-verification 是 EBM 的已有能力，不单独作为我们的 novelty。</a:t>
            </a:r>
          </a:p>
          <a:p>
            <a:pPr algn="l">
              <a:lnSpc>
                <a:spcPct val="114000"/>
              </a:lnSpc>
            </a:pPr>
            <a:r>
              <a:rPr sz="1150" b="1">
                <a:solidFill>
                  <a:srgbClr val="9A6D00"/>
                </a:solidFill>
                <a:latin typeface="微软雅黑"/>
                <a:ea typeface="微软雅黑"/>
                <a:cs typeface="微软雅黑"/>
              </a:rPr>
              <a:t>•  Novelty hypothesis：restoration-specific action-contrastive energy learning（尚未验证）。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746</Words>
  <Application>Microsoft Office PowerPoint</Application>
  <PresentationFormat>Widescreen</PresentationFormat>
  <Paragraphs>114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微软雅黑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汪桢昊</dc:creator>
  <cp:keywords/>
  <dc:description>generated using python-pptx</dc:description>
  <cp:lastModifiedBy>桢昊 汪</cp:lastModifiedBy>
  <cp:revision>1</cp:revision>
  <dcterms:created xsi:type="dcterms:W3CDTF">2013-01-27T09:14:16Z</dcterms:created>
  <dcterms:modified xsi:type="dcterms:W3CDTF">2026-10-15T09:52:32Z</dcterms:modified>
  <cp:category/>
</cp:coreProperties>
</file>